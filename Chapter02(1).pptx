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70"/>
  </p:notesMasterIdLst>
  <p:sldIdLst>
    <p:sldId id="256" r:id="rId3"/>
    <p:sldId id="258" r:id="rId4"/>
    <p:sldId id="360" r:id="rId5"/>
    <p:sldId id="340" r:id="rId6"/>
    <p:sldId id="347" r:id="rId7"/>
    <p:sldId id="361" r:id="rId8"/>
    <p:sldId id="363" r:id="rId9"/>
    <p:sldId id="364" r:id="rId10"/>
    <p:sldId id="365" r:id="rId11"/>
    <p:sldId id="366" r:id="rId12"/>
    <p:sldId id="367" r:id="rId13"/>
    <p:sldId id="368" r:id="rId14"/>
    <p:sldId id="370" r:id="rId15"/>
    <p:sldId id="371" r:id="rId16"/>
    <p:sldId id="373" r:id="rId17"/>
    <p:sldId id="372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4" r:id="rId28"/>
    <p:sldId id="385" r:id="rId29"/>
    <p:sldId id="386" r:id="rId30"/>
    <p:sldId id="387" r:id="rId31"/>
    <p:sldId id="388" r:id="rId32"/>
    <p:sldId id="389" r:id="rId33"/>
    <p:sldId id="390" r:id="rId34"/>
    <p:sldId id="391" r:id="rId35"/>
    <p:sldId id="392" r:id="rId36"/>
    <p:sldId id="393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  <p:sldId id="409" r:id="rId53"/>
    <p:sldId id="410" r:id="rId54"/>
    <p:sldId id="411" r:id="rId55"/>
    <p:sldId id="412" r:id="rId56"/>
    <p:sldId id="413" r:id="rId57"/>
    <p:sldId id="414" r:id="rId58"/>
    <p:sldId id="415" r:id="rId59"/>
    <p:sldId id="416" r:id="rId60"/>
    <p:sldId id="417" r:id="rId61"/>
    <p:sldId id="418" r:id="rId62"/>
    <p:sldId id="419" r:id="rId63"/>
    <p:sldId id="420" r:id="rId64"/>
    <p:sldId id="421" r:id="rId65"/>
    <p:sldId id="422" r:id="rId66"/>
    <p:sldId id="423" r:id="rId67"/>
    <p:sldId id="424" r:id="rId68"/>
    <p:sldId id="344" r:id="rId69"/>
  </p:sldIdLst>
  <p:sldSz cx="12192000" cy="6858000"/>
  <p:notesSz cx="6858000" cy="9144000"/>
  <p:embeddedFontLst>
    <p:embeddedFont>
      <p:font typeface="Garamond" panose="02020404030301010803" pitchFamily="18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inZc4dFYHlZkX+0H+Jo49oyAel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45"/>
    <a:srgbClr val="32468A"/>
    <a:srgbClr val="005828"/>
    <a:srgbClr val="EA7500"/>
    <a:srgbClr val="91CB41"/>
    <a:srgbClr val="61BBFF"/>
    <a:srgbClr val="0083E6"/>
    <a:srgbClr val="009BD2"/>
    <a:srgbClr val="3C4F90"/>
    <a:srgbClr val="E6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19" autoAdjust="0"/>
  </p:normalViewPr>
  <p:slideViewPr>
    <p:cSldViewPr snapToGrid="0">
      <p:cViewPr varScale="1">
        <p:scale>
          <a:sx n="55" d="100"/>
          <a:sy n="55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font" Target="fonts/font4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2.fntdata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3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6118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214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3594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1981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720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9041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0535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8247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169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5082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9252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665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257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2795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7011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5995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3542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8159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12103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2247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1766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3053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9783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0894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6081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49996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0342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9364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09208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9542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35790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55283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3117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6031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96510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376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8781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69771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70820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5795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65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45104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7460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5182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4474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02383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0419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62671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7696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73350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0588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54105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271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96319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67000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86979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675817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02742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63946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82444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56515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11442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0719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11513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582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" name="Google Shape;16;p51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17;p51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8;p51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9" name="Google Shape;19;p51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0" name="Google Shape;20;p51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51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51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51"/>
          <p:cNvSpPr txBox="1"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Garamond"/>
              <a:buNone/>
              <a:defRPr sz="6800" b="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dt" idx="10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51"/>
          <p:cNvSpPr txBox="1">
            <a:spLocks noGrp="1"/>
          </p:cNvSpPr>
          <p:nvPr>
            <p:ph type="ftr" idx="11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51"/>
          <p:cNvSpPr txBox="1">
            <a:spLocks noGrp="1"/>
          </p:cNvSpPr>
          <p:nvPr>
            <p:ph type="sldNum" idx="12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2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52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6" name="Google Shape;36;p53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5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38;p53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53"/>
          <p:cNvSpPr txBox="1"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Garamond"/>
              <a:buNone/>
              <a:defRPr sz="680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53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1" name="Google Shape;41;p53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42;p53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43;p53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4" name="Google Shape;44;p53"/>
          <p:cNvSpPr txBox="1"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3"/>
          <p:cNvSpPr txBox="1">
            <a:spLocks noGrp="1"/>
          </p:cNvSpPr>
          <p:nvPr>
            <p:ph type="dt" idx="10"/>
          </p:nvPr>
        </p:nvSpPr>
        <p:spPr>
          <a:xfrm>
            <a:off x="5318760" y="1344502"/>
            <a:ext cx="1554480" cy="49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53"/>
          <p:cNvSpPr txBox="1">
            <a:spLocks noGrp="1"/>
          </p:cNvSpPr>
          <p:nvPr>
            <p:ph type="ftr" idx="11"/>
          </p:nvPr>
        </p:nvSpPr>
        <p:spPr>
          <a:xfrm>
            <a:off x="1629157" y="5177408"/>
            <a:ext cx="566013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53"/>
          <p:cNvSpPr txBox="1">
            <a:spLocks noGrp="1"/>
          </p:cNvSpPr>
          <p:nvPr>
            <p:ph type="sldNum" idx="12"/>
          </p:nvPr>
        </p:nvSpPr>
        <p:spPr>
          <a:xfrm>
            <a:off x="8604504" y="5177408"/>
            <a:ext cx="19583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4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51" name="Google Shape;51;p54"/>
          <p:cNvSpPr txBox="1">
            <a:spLocks noGrp="1"/>
          </p:cNvSpPr>
          <p:nvPr>
            <p:ph type="body" idx="2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52" name="Google Shape;52;p54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54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54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 b="1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55"/>
          <p:cNvSpPr txBox="1">
            <a:spLocks noGrp="1"/>
          </p:cNvSpPr>
          <p:nvPr>
            <p:ph type="body" idx="2"/>
          </p:nvPr>
        </p:nvSpPr>
        <p:spPr>
          <a:xfrm>
            <a:off x="1069848" y="2792472"/>
            <a:ext cx="4663440" cy="316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body" idx="3"/>
          </p:nvPr>
        </p:nvSpPr>
        <p:spPr>
          <a:xfrm>
            <a:off x="6458712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body" idx="4"/>
          </p:nvPr>
        </p:nvSpPr>
        <p:spPr>
          <a:xfrm>
            <a:off x="6458712" y="2792471"/>
            <a:ext cx="4663440" cy="316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61" name="Google Shape;61;p55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55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55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6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6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56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56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7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57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57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8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58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58"/>
          <p:cNvSpPr txBox="1"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8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>
            <a:endParaRPr/>
          </a:p>
        </p:txBody>
      </p:sp>
      <p:sp>
        <p:nvSpPr>
          <p:cNvPr id="78" name="Google Shape;78;p58"/>
          <p:cNvSpPr txBox="1">
            <a:spLocks noGrp="1"/>
          </p:cNvSpPr>
          <p:nvPr>
            <p:ph type="body" idx="2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dt" idx="10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58"/>
          <p:cNvSpPr txBox="1">
            <a:spLocks noGrp="1"/>
          </p:cNvSpPr>
          <p:nvPr>
            <p:ph type="ftr" idx="11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58"/>
          <p:cNvSpPr txBox="1">
            <a:spLocks noGrp="1"/>
          </p:cNvSpPr>
          <p:nvPr>
            <p:ph type="sldNum" idx="12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9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59"/>
          <p:cNvSpPr>
            <a:spLocks noGrp="1"/>
          </p:cNvSpPr>
          <p:nvPr>
            <p:ph type="pic" idx="2"/>
          </p:nvPr>
        </p:nvSpPr>
        <p:spPr>
          <a:xfrm>
            <a:off x="228599" y="237744"/>
            <a:ext cx="7696201" cy="6382512"/>
          </a:xfrm>
          <a:prstGeom prst="rect">
            <a:avLst/>
          </a:prstGeom>
          <a:solidFill>
            <a:srgbClr val="BFCBCB"/>
          </a:solidFill>
          <a:ln>
            <a:noFill/>
          </a:ln>
        </p:spPr>
      </p:sp>
      <p:sp>
        <p:nvSpPr>
          <p:cNvPr id="85" name="Google Shape;85;p59"/>
          <p:cNvSpPr txBox="1">
            <a:spLocks noGrp="1"/>
          </p:cNvSpPr>
          <p:nvPr>
            <p:ph type="dt" idx="10"/>
          </p:nvPr>
        </p:nvSpPr>
        <p:spPr>
          <a:xfrm>
            <a:off x="5662337" y="6035040"/>
            <a:ext cx="207196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59"/>
          <p:cNvSpPr txBox="1">
            <a:spLocks noGrp="1"/>
          </p:cNvSpPr>
          <p:nvPr>
            <p:ph type="ftr" idx="11"/>
          </p:nvPr>
        </p:nvSpPr>
        <p:spPr>
          <a:xfrm>
            <a:off x="612648" y="6035040"/>
            <a:ext cx="458800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7" name="Google Shape;87;p59"/>
          <p:cNvSpPr txBox="1">
            <a:spLocks noGrp="1"/>
          </p:cNvSpPr>
          <p:nvPr>
            <p:ph type="sldNum" idx="12"/>
          </p:nvPr>
        </p:nvSpPr>
        <p:spPr>
          <a:xfrm>
            <a:off x="10396728" y="6035040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  <p:sp>
        <p:nvSpPr>
          <p:cNvPr id="88" name="Google Shape;88;p59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59"/>
          <p:cNvSpPr txBox="1"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9"/>
          <p:cNvSpPr txBox="1">
            <a:spLocks noGrp="1"/>
          </p:cNvSpPr>
          <p:nvPr>
            <p:ph type="body" idx="1"/>
          </p:nvPr>
        </p:nvSpPr>
        <p:spPr>
          <a:xfrm>
            <a:off x="8477250" y="2386584"/>
            <a:ext cx="3144774" cy="351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0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60"/>
          <p:cNvSpPr txBox="1">
            <a:spLocks noGrp="1"/>
          </p:cNvSpPr>
          <p:nvPr>
            <p:ph type="body" idx="1"/>
          </p:nvPr>
        </p:nvSpPr>
        <p:spPr>
          <a:xfrm rot="5400000">
            <a:off x="4171188" y="-1001268"/>
            <a:ext cx="3849624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60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60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60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1"/>
          <p:cNvSpPr txBox="1">
            <a:spLocks noGrp="1"/>
          </p:cNvSpPr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1"/>
          <p:cNvSpPr txBox="1">
            <a:spLocks noGrp="1"/>
          </p:cNvSpPr>
          <p:nvPr>
            <p:ph type="body" idx="1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0" name="Google Shape;100;p61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61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2" name="Google Shape;102;p61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4" name="Google Shape;114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0" name="Google Shape;120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6" name="Google Shape;126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6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2" name="Google Shape;132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3" name="Google Shape;13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7" name="Google Shape;137;p6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6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6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1" name="Google Shape;141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2" name="Google Shape;142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6" name="Google Shape;146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7" name="Google Shape;147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1" name="Google Shape;151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7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5" name="Google Shape;155;p7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6" name="Google Shape;156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7" name="Google Shape;157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8" name="Google Shape;158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7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3" name="Google Shape;163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4" name="Google Shape;164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5" name="Google Shape;165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7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0" name="Google Shape;170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1" name="Google Shape;171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7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6" name="Google Shape;176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7" name="Google Shape;177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" name="Google Shape;7;p50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rgbClr val="BFBFB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8;p50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26262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9;p50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sz="4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0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1" name="Google Shape;11;p50"/>
          <p:cNvSpPr txBox="1">
            <a:spLocks noGrp="1"/>
          </p:cNvSpPr>
          <p:nvPr>
            <p:ph type="dt" idx="10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 dirty="0"/>
          </a:p>
        </p:txBody>
      </p:sp>
      <p:sp>
        <p:nvSpPr>
          <p:cNvPr id="12" name="Google Shape;12;p50"/>
          <p:cNvSpPr txBox="1">
            <a:spLocks noGrp="1"/>
          </p:cNvSpPr>
          <p:nvPr>
            <p:ph type="ftr" idx="11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 dirty="0"/>
          </a:p>
        </p:txBody>
      </p:sp>
      <p:sp>
        <p:nvSpPr>
          <p:cNvPr id="13" name="Google Shape;13;p50"/>
          <p:cNvSpPr txBox="1">
            <a:spLocks noGrp="1"/>
          </p:cNvSpPr>
          <p:nvPr>
            <p:ph type="sldNum" idx="12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7" name="Google Shape;107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8" name="Google Shape;108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ct val="100000"/>
              <a:buFont typeface="Garamond"/>
              <a:buNone/>
            </a:pPr>
            <a:r>
              <a:rPr lang="en-US" sz="6000" dirty="0">
                <a:solidFill>
                  <a:srgbClr val="32468A"/>
                </a:solidFill>
              </a:rPr>
              <a:t>CompTIA Security+</a:t>
            </a:r>
            <a:br>
              <a:rPr lang="en-US" sz="6000" dirty="0">
                <a:solidFill>
                  <a:srgbClr val="32468A"/>
                </a:solidFill>
              </a:rPr>
            </a:br>
            <a:r>
              <a:rPr lang="en-US" sz="4400" dirty="0">
                <a:solidFill>
                  <a:srgbClr val="32468A"/>
                </a:solidFill>
              </a:rPr>
              <a:t>(Exam: SY0-701)</a:t>
            </a:r>
            <a:endParaRPr sz="4400" dirty="0"/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rgbClr val="32468A"/>
                </a:solidFill>
              </a:rPr>
              <a:t>Chapter 2: Cryptographic Solutions and Threats</a:t>
            </a:r>
            <a:endParaRPr dirty="0"/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8" name="Google Shape;208;p3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3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3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Objectives</a:t>
            </a:r>
            <a:endParaRPr dirty="0"/>
          </a:p>
        </p:txBody>
      </p:sp>
      <p:sp>
        <p:nvSpPr>
          <p:cNvPr id="212" name="Google Shape;212;p3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Cryptography Concepts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Implementations of Cryptography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Cryptographic Tools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Public Key Infrastructure (PKI)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Threats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Social Engineering</a:t>
            </a: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pic>
        <p:nvPicPr>
          <p:cNvPr id="213" name="Google Shape;213;p3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8" name="Google Shape;208;p3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3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3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CompTIA Exam Objectives</a:t>
            </a:r>
            <a:endParaRPr dirty="0"/>
          </a:p>
        </p:txBody>
      </p:sp>
      <p:sp>
        <p:nvSpPr>
          <p:cNvPr id="212" name="Google Shape;212;p3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1.4 Explain the importance of using appropriate cryptographic solutions.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2.1 Compare and contrast common threat actors and motivations.</a:t>
            </a:r>
          </a:p>
          <a:p>
            <a:pPr marL="182880" lvl="0" indent="-182880">
              <a:buSzPts val="2400"/>
            </a:pPr>
            <a:r>
              <a:rPr lang="en-US" sz="2400" dirty="0">
                <a:solidFill>
                  <a:srgbClr val="32468A"/>
                </a:solidFill>
              </a:rPr>
              <a:t>2.2 Explain common threat vectors and attack surfaces</a:t>
            </a: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pic>
        <p:nvPicPr>
          <p:cNvPr id="213" name="Google Shape;213;p3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40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32468A"/>
              </a:buClr>
              <a:buSzPct val="100000"/>
            </a:pPr>
            <a:r>
              <a:rPr lang="en-US" sz="3200" dirty="0">
                <a:solidFill>
                  <a:srgbClr val="32468A"/>
                </a:solidFill>
              </a:rPr>
              <a:t>Chapter 2: Cryptographic Solutions and Threats</a:t>
            </a:r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dirty="0">
                <a:solidFill>
                  <a:srgbClr val="32468A"/>
                </a:solidFill>
              </a:rPr>
              <a:t>►</a:t>
            </a:r>
            <a:r>
              <a:rPr lang="en-US" sz="3600" b="1" dirty="0">
                <a:solidFill>
                  <a:srgbClr val="32468A"/>
                </a:solidFill>
              </a:rPr>
              <a:t> Cryptography Concepts</a:t>
            </a:r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930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Cryptography</a:t>
            </a:r>
            <a:endParaRPr dirty="0"/>
          </a:p>
        </p:txBody>
      </p:sp>
      <p:sp>
        <p:nvSpPr>
          <p:cNvPr id="234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400" dirty="0">
                <a:solidFill>
                  <a:srgbClr val="32468A"/>
                </a:solidFill>
              </a:rPr>
              <a:t>Practice and methods used to protect security of information through encoding.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Encoding- making sure information can only be read by authorized subjects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Algorithms- mathematical operations, rules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Encryption- one form of cryptography, relies on algorithms to scramble data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Decryption- reversing or descrambling encrypted data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Cryptanalysis- looking for weaknesses or errors in cryptographic system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SzPts val="2800"/>
            </a:pPr>
            <a:endParaRPr sz="2400"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01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Cryptography Terms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131" y="2103120"/>
            <a:ext cx="5205616" cy="2676525"/>
          </a:xfrm>
          <a:prstGeom prst="rect">
            <a:avLst/>
          </a:prstGeom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14617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Plaintext- unencrypted data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>
                <a:solidFill>
                  <a:srgbClr val="32468A"/>
                </a:solidFill>
              </a:rPr>
              <a:t>Ciphertext- encrypted </a:t>
            </a:r>
            <a:r>
              <a:rPr lang="en-US" sz="2800" dirty="0">
                <a:solidFill>
                  <a:srgbClr val="32468A"/>
                </a:solidFill>
              </a:rPr>
              <a:t>data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Cipher- (or algorithm) process that encrypts/decrypts data</a:t>
            </a:r>
            <a:endParaRPr lang="en-US" sz="2800" dirty="0"/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Cryptographic key- string of data, used with cipher, to secure data</a:t>
            </a:r>
          </a:p>
        </p:txBody>
      </p:sp>
    </p:spTree>
    <p:extLst>
      <p:ext uri="{BB962C8B-B14F-4D97-AF65-F5344CB8AC3E}">
        <p14:creationId xmlns:p14="http://schemas.microsoft.com/office/powerpoint/2010/main" val="37608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Symmetric Encryption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229225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Used for confidentiality (privacy)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Same shared secret key used for both encryption and decryption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Fewer compute resources required, fast, good for bulk encryption of large blocks of data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Problem- secure storage and distribution of key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AES, DES, IDEA, RC4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418" y="2069487"/>
            <a:ext cx="5399023" cy="243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01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Asymmetric Encryption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19"/>
            <a:ext cx="5229225" cy="423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Public/private key pair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Keys are linked, but unique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Cannot derive on key from other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Private key kept secret, public key distributable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Each key reverses operation of other key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Problem- extensive resource consumption, slow, used for small amounts of data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Used for non-repudiation, key exchange, authentication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Also referred to as Public Key Cryptography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sz="28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ECC, RSA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025" y="2103119"/>
            <a:ext cx="5355959" cy="258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96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Key Length</a:t>
            </a:r>
            <a:endParaRPr dirty="0"/>
          </a:p>
        </p:txBody>
      </p:sp>
      <p:sp>
        <p:nvSpPr>
          <p:cNvPr id="234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Key is string of characters, used in determining transformation and security of data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Length measured in bits, denotes total number of possible key values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Longer key, generally more secure (e.g. 1024 bits compared to 2048 bits, assuming same cipher), affects cryptanalysis success rate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Should be random (or pseudo-random), disorderly, uncertain</a:t>
            </a:r>
          </a:p>
          <a:p>
            <a:pPr marL="742950" lvl="1" indent="-285750">
              <a:spcBef>
                <a:spcPts val="0"/>
              </a:spcBef>
              <a:spcAft>
                <a:spcPts val="1200"/>
              </a:spcAft>
              <a:buSzPts val="2800"/>
            </a:pPr>
            <a:endParaRPr sz="2800"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431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Hashing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229225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Takes input and creates fixed length output (message digest), unique representation of data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NOT encryption/decryption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One-way function- cannot derive original data from digest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Anti-collision- multiple plaintexts should not result in output of same digest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Used for data integrity, message authentication, password storage</a:t>
            </a:r>
          </a:p>
          <a:p>
            <a:pPr indent="-457200">
              <a:spcBef>
                <a:spcPts val="0"/>
              </a:spcBef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MD5, SHA, RIPEMD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560" y="2014194"/>
            <a:ext cx="5169779" cy="321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7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Digital Signatures (1)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Combines public key cryptography with hashing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Provide non-repudiation, integrity, authentication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DSA, ECDSA, RSA</a:t>
            </a:r>
          </a:p>
        </p:txBody>
      </p:sp>
    </p:spTree>
    <p:extLst>
      <p:ext uri="{BB962C8B-B14F-4D97-AF65-F5344CB8AC3E}">
        <p14:creationId xmlns:p14="http://schemas.microsoft.com/office/powerpoint/2010/main" val="299267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Digital Signatures (2)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" y="1813447"/>
            <a:ext cx="4800321" cy="17477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209" y="1813447"/>
            <a:ext cx="4701008" cy="15689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" y="3955120"/>
            <a:ext cx="5008213" cy="1785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398" y="3366878"/>
            <a:ext cx="4810630" cy="237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7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32468A"/>
              </a:buClr>
              <a:buSzPct val="100000"/>
            </a:pPr>
            <a:r>
              <a:rPr lang="en-US" sz="3200" dirty="0">
                <a:solidFill>
                  <a:srgbClr val="32468A"/>
                </a:solidFill>
              </a:rPr>
              <a:t>Chapter 2: Cryptographic Solutions and Threats</a:t>
            </a:r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dirty="0">
                <a:solidFill>
                  <a:srgbClr val="32468A"/>
                </a:solidFill>
              </a:rPr>
              <a:t>►</a:t>
            </a:r>
            <a:r>
              <a:rPr lang="en-US" sz="3600" b="1" dirty="0">
                <a:solidFill>
                  <a:srgbClr val="32468A"/>
                </a:solidFill>
              </a:rPr>
              <a:t> Implementations of Cryptography</a:t>
            </a:r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754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Encryption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Data states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Data at rest, data in transit, data in use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Data lifecycle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8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77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Encryption Levels – Data at Rest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Disk, partition, volume, file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Full disk- encrypt whole disk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Commonly implemented by self-encrypting drive (SED)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Partition- and volume-level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Commonly implemented by software (operating system)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File-level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Files, folders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Implemented by software/OS</a:t>
            </a:r>
          </a:p>
        </p:txBody>
      </p:sp>
    </p:spTree>
    <p:extLst>
      <p:ext uri="{BB962C8B-B14F-4D97-AF65-F5344CB8AC3E}">
        <p14:creationId xmlns:p14="http://schemas.microsoft.com/office/powerpoint/2010/main" val="420439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Encryption Levels – Database (1)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1" y="2103119"/>
            <a:ext cx="4848224" cy="3916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Database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Collection of structured data (data fits into confines of database table)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Database management system (DBMS)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Managed by database administrator (DBA)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Data organized into tables, rows (records), columns (fields)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811" y="2103119"/>
            <a:ext cx="5551332" cy="21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25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0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Encryption Levels – Database (2)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799" y="2103119"/>
            <a:ext cx="10296525" cy="3916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Database-level encryption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Data-at-rest (including database logs and backups)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Protection data from theft of storage media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Record-level encryption (also called row-level)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Each record (row) in table </a:t>
            </a:r>
            <a:br>
              <a:rPr lang="en-US" sz="2400" dirty="0">
                <a:solidFill>
                  <a:srgbClr val="32468A"/>
                </a:solidFill>
              </a:rPr>
            </a:br>
            <a:r>
              <a:rPr lang="en-US" sz="2400" dirty="0">
                <a:solidFill>
                  <a:srgbClr val="32468A"/>
                </a:solidFill>
              </a:rPr>
              <a:t>encrypted with separate key pair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Enforce access restrictions at </a:t>
            </a:r>
            <a:br>
              <a:rPr lang="en-US" sz="2400" dirty="0">
                <a:solidFill>
                  <a:srgbClr val="32468A"/>
                </a:solidFill>
              </a:rPr>
            </a:br>
            <a:r>
              <a:rPr lang="en-US" sz="2400" dirty="0">
                <a:solidFill>
                  <a:srgbClr val="32468A"/>
                </a:solidFill>
              </a:rPr>
              <a:t>record-level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Supports compliance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825" y="4142471"/>
            <a:ext cx="3543626" cy="18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26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Transport/Communication Encryption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Protects data in transit between two or more points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Vulnerable to eavesdropping, data outside control of administrator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Transport Layer Security (TLS)</a:t>
            </a:r>
            <a:endParaRPr lang="en-US" sz="26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Internet Protocol Security (IPsec)</a:t>
            </a:r>
          </a:p>
        </p:txBody>
      </p:sp>
    </p:spTree>
    <p:extLst>
      <p:ext uri="{BB962C8B-B14F-4D97-AF65-F5344CB8AC3E}">
        <p14:creationId xmlns:p14="http://schemas.microsoft.com/office/powerpoint/2010/main" val="3934820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Key Exchange (1)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Symmetric encryption problem- secure exchange of shared key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Asymmetric encryption advantage- secure private key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Combine these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Symmetric key for bulk encryption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Asymmetric key to encrypt symmetric key for exchange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Hash-based message authentication Code (HMAC)</a:t>
            </a:r>
          </a:p>
        </p:txBody>
      </p:sp>
    </p:spTree>
    <p:extLst>
      <p:ext uri="{BB962C8B-B14F-4D97-AF65-F5344CB8AC3E}">
        <p14:creationId xmlns:p14="http://schemas.microsoft.com/office/powerpoint/2010/main" val="1261016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Key Exchange (2)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56" y="1672554"/>
            <a:ext cx="7530230" cy="471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02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Key Exchange (3)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600" dirty="0">
                <a:solidFill>
                  <a:srgbClr val="32468A"/>
                </a:solidFill>
              </a:rPr>
              <a:t>Important points to consider about example of key exchange: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Shared key never changes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Same cipher is used throughout the exchange for both encryption and decryption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Plaintext message never changes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Recipient’s private key, should be kept secret, and never shared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More the recipient’s public key is distributed, the more vulnerable it can become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Encrypting the plaintext, will not encrypt the shared key. Nor will encrypting the shared key, encrypt the plaintext. The same concept applies to decryption.</a:t>
            </a:r>
          </a:p>
        </p:txBody>
      </p:sp>
    </p:spTree>
    <p:extLst>
      <p:ext uri="{BB962C8B-B14F-4D97-AF65-F5344CB8AC3E}">
        <p14:creationId xmlns:p14="http://schemas.microsoft.com/office/powerpoint/2010/main" val="3482293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Perfect Forward Secrecy (PFS)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Key exchange deprecated, due to risks of key compromise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PFS key agreement mitigates risks of key exchange (keys never exchanged)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Sender and recipient’s stations agree on key value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New, unique, ephemeral key value generated each session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Short-lived, have expiration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Once expired, key no longer useful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Diffie-Hellman Ephemeral (DHE)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Elliptic Curve DHE (ECDHE)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6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6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899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Key Escrow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Used for secure storage of cryptographic keys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Trusted third-party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Storage for copies, backups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Same operational functions and vulnerabilities as original key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6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6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294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Obfuscation (1)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600" dirty="0">
                <a:solidFill>
                  <a:srgbClr val="32468A"/>
                </a:solidFill>
              </a:rPr>
              <a:t>Making data or message unclear, unintelligible, or difficult to understand.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Steganography</a:t>
            </a:r>
            <a:r>
              <a:rPr lang="en-US" sz="2600" dirty="0">
                <a:solidFill>
                  <a:srgbClr val="32468A"/>
                </a:solidFill>
              </a:rPr>
              <a:t>- concealing, or embedding secret information within a non-secret digital cover medium.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Digital cover mediums-  document, video, picture, text, audio, network protocol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Prove integrity, non-repudiation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Covert channels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6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152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Obfuscation (2)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Tokenization</a:t>
            </a:r>
            <a:r>
              <a:rPr lang="en-US" sz="2600" dirty="0">
                <a:solidFill>
                  <a:srgbClr val="32468A"/>
                </a:solidFill>
              </a:rPr>
              <a:t>- replaces sensitive data with different, randomly generated, undecipherable, non-sensitive, substitute (called a token)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Reversible, authorized request with token can access original data in vault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Data masking</a:t>
            </a:r>
            <a:r>
              <a:rPr lang="en-US" sz="2600" dirty="0">
                <a:solidFill>
                  <a:srgbClr val="32468A"/>
                </a:solidFill>
              </a:rPr>
              <a:t>- all or part of dataset hidden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Substitute, masked data shows in place of original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Social Security number, 123-45-6789 </a:t>
            </a:r>
          </a:p>
          <a:p>
            <a:pPr lvl="5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200" dirty="0">
                <a:solidFill>
                  <a:srgbClr val="32468A"/>
                </a:solidFill>
              </a:rPr>
              <a:t>Masked,   xxx-xx-6789		</a:t>
            </a:r>
          </a:p>
        </p:txBody>
      </p:sp>
    </p:spTree>
    <p:extLst>
      <p:ext uri="{BB962C8B-B14F-4D97-AF65-F5344CB8AC3E}">
        <p14:creationId xmlns:p14="http://schemas.microsoft.com/office/powerpoint/2010/main" val="2969352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Salting and Key Stretching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Password hashes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User-generated passwords can be low entropy, </a:t>
            </a:r>
            <a:r>
              <a:rPr lang="en-US" sz="2400" dirty="0">
                <a:solidFill>
                  <a:srgbClr val="32468A"/>
                </a:solidFill>
              </a:rPr>
              <a:t>Vulnerable to brute force, dictionary attack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Salting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Adds entropy to password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chemeClr val="tx1"/>
                </a:solidFill>
              </a:rPr>
              <a:t>hash algorithm(salt + plaintext password) = hash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Slows down password attack, prevents use of rainbow tables (lists of pre-computed hash lists)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Key stretching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Number of additional rounds of hashing, making key longer and more disorderly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Slows down password attack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Password-Based Key Derivation Function 2 (PBKDF2)</a:t>
            </a:r>
          </a:p>
        </p:txBody>
      </p:sp>
    </p:spTree>
    <p:extLst>
      <p:ext uri="{BB962C8B-B14F-4D97-AF65-F5344CB8AC3E}">
        <p14:creationId xmlns:p14="http://schemas.microsoft.com/office/powerpoint/2010/main" val="1221004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Blockchain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400" dirty="0">
                <a:solidFill>
                  <a:srgbClr val="32468A"/>
                </a:solidFill>
              </a:rPr>
              <a:t>Expanding list of transaction records, secured using cryptography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Each new block hashed with unique identifier based on previous block’s data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Linking blocks via hashing provides tamper-evidence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Open public ledger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Distributed across peer-to-peer (P2P) network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Decentralized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Example uses include data registries, cryptocurrency, digital identification, supply chain management, and financial services</a:t>
            </a:r>
          </a:p>
          <a:p>
            <a:pPr marL="3429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57" y="428669"/>
            <a:ext cx="5766343" cy="167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03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32468A"/>
              </a:buClr>
              <a:buSzPct val="100000"/>
            </a:pPr>
            <a:r>
              <a:rPr lang="en-US" sz="3200" dirty="0">
                <a:solidFill>
                  <a:srgbClr val="32468A"/>
                </a:solidFill>
              </a:rPr>
              <a:t>Chapter 2: Cryptographic Solutions and Threats</a:t>
            </a:r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dirty="0">
                <a:solidFill>
                  <a:srgbClr val="32468A"/>
                </a:solidFill>
              </a:rPr>
              <a:t>►</a:t>
            </a:r>
            <a:r>
              <a:rPr lang="en-US" sz="3600" b="1" dirty="0">
                <a:solidFill>
                  <a:srgbClr val="32468A"/>
                </a:solidFill>
              </a:rPr>
              <a:t> Cryptographic Tools</a:t>
            </a:r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8488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Key Management System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Key lifecycle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Generation, distribution, storage, renewal, expiration, revocation, destruction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Decentralized key management</a:t>
            </a:r>
            <a:endParaRPr lang="en-US" sz="24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Key management system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Centralized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Performs all tasks in key lifecycle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Hardware cryptoprocessors</a:t>
            </a:r>
          </a:p>
        </p:txBody>
      </p:sp>
    </p:spTree>
    <p:extLst>
      <p:ext uri="{BB962C8B-B14F-4D97-AF65-F5344CB8AC3E}">
        <p14:creationId xmlns:p14="http://schemas.microsoft.com/office/powerpoint/2010/main" val="812929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Hardware Cryptoprocessors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Trusted Platform Module (TPM)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Hardware module, embedded into chipset or CPU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Create and store keys, secure boot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800" dirty="0">
                <a:solidFill>
                  <a:srgbClr val="32468A"/>
                </a:solidFill>
              </a:rPr>
              <a:t>Hardware Security Module (HSM)</a:t>
            </a:r>
            <a:endParaRPr lang="en-US" sz="26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Plug-in PCIe card, network attached appliance, USB form factor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Secure enclave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Protects unauthorized access to date (keys) loaded into system RAM</a:t>
            </a:r>
          </a:p>
        </p:txBody>
      </p:sp>
    </p:spTree>
    <p:extLst>
      <p:ext uri="{BB962C8B-B14F-4D97-AF65-F5344CB8AC3E}">
        <p14:creationId xmlns:p14="http://schemas.microsoft.com/office/powerpoint/2010/main" val="3717053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32468A"/>
              </a:buClr>
              <a:buSzPct val="100000"/>
            </a:pPr>
            <a:r>
              <a:rPr lang="en-US" sz="3200" dirty="0">
                <a:solidFill>
                  <a:srgbClr val="32468A"/>
                </a:solidFill>
              </a:rPr>
              <a:t>Chapter 2: Cryptographic Solutions and Threats</a:t>
            </a:r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dirty="0">
                <a:solidFill>
                  <a:srgbClr val="32468A"/>
                </a:solidFill>
              </a:rPr>
              <a:t>►</a:t>
            </a:r>
            <a:r>
              <a:rPr lang="en-US" sz="3600" b="1" dirty="0">
                <a:solidFill>
                  <a:srgbClr val="32468A"/>
                </a:solidFill>
              </a:rPr>
              <a:t> Public Key Infrastructure (PKI)</a:t>
            </a:r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5036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Public Key Infrastructure (PKI)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Remember, the public key may be known by anyone. It’s freely available.</a:t>
            </a:r>
          </a:p>
          <a:p>
            <a:pPr marL="857250" indent="-40005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400" b="1" dirty="0">
                <a:solidFill>
                  <a:srgbClr val="32468A"/>
                </a:solidFill>
              </a:rPr>
              <a:t>Q.</a:t>
            </a:r>
            <a:r>
              <a:rPr lang="en-US" sz="2400" dirty="0">
                <a:solidFill>
                  <a:srgbClr val="32468A"/>
                </a:solidFill>
              </a:rPr>
              <a:t> How does the recipient prove the identity of the public key holder (sender in this example)?</a:t>
            </a:r>
          </a:p>
          <a:p>
            <a:pPr marL="857250" indent="-40005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400" b="1" dirty="0">
                <a:solidFill>
                  <a:srgbClr val="32468A"/>
                </a:solidFill>
              </a:rPr>
              <a:t>A.</a:t>
            </a:r>
            <a:r>
              <a:rPr lang="en-US" sz="2400" dirty="0">
                <a:solidFill>
                  <a:srgbClr val="32468A"/>
                </a:solidFill>
              </a:rPr>
              <a:t> 	Through the use of public key infrastructure (PKI) and digital certificates!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100" y="1718436"/>
            <a:ext cx="7163800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84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Digital Certificates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029199" cy="423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Similar to electronic ID card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Proves certificate owner’s identity 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Distributes owners public key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Digitally signed by trusted party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Information identifying subject (SAN), validity period, issuer, subject’s public key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PKCS (Public Key Cryptography Standards), P12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Self-signed- not signed by trusted CA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sz="2200" dirty="0">
                <a:solidFill>
                  <a:srgbClr val="32468A"/>
                </a:solidFill>
              </a:rPr>
              <a:t>Untrusted, without use of PKI</a:t>
            </a:r>
          </a:p>
        </p:txBody>
      </p:sp>
      <p:pic>
        <p:nvPicPr>
          <p:cNvPr id="9" name="Picture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42011"/>
            <a:ext cx="5583143" cy="420631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25197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Certificate Authority (CA)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Trusted authority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Signs, issues, stores digital certificates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Self-signs its own certificate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Confirms identity of certificate owner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Guarantees validity of certificate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Establishes trust in PKI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Enforces certificate and key lifecycle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Private or third-party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734" y="2103119"/>
            <a:ext cx="5143663" cy="322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28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Root of Trust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5530738" y="2103120"/>
            <a:ext cx="5658120" cy="393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en-US" sz="2600" dirty="0">
                <a:solidFill>
                  <a:srgbClr val="32468A"/>
                </a:solidFill>
              </a:rPr>
              <a:t>Inherently trusted source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Root certificate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CA’s public key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Self-signed by root CA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Signs other certificates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Installed/imported by client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If compromised, PKI untrusted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" y="2014194"/>
            <a:ext cx="4406894" cy="40274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6951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Certificate Hierarchy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Single CA hierarchy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Carries out all certificate functions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SPoF, higher risk of exposure/compromise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Typically used on private network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Multiple CA hierarchy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Two tiers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Root CA, Intermediate CAs, leaf certificates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593" y="3460567"/>
            <a:ext cx="3174027" cy="21161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465" y="1647838"/>
            <a:ext cx="1964281" cy="15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5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Certificate Signing Request (CSR)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678" y="2145225"/>
            <a:ext cx="7299882" cy="407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75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Registration Authority (RA)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677" y="2110828"/>
            <a:ext cx="6421623" cy="4128187"/>
          </a:xfrm>
          <a:prstGeom prst="rect">
            <a:avLst/>
          </a:prstGeom>
        </p:spPr>
      </p:pic>
      <p:sp>
        <p:nvSpPr>
          <p:cNvPr id="10" name="Google Shape;234;p5"/>
          <p:cNvSpPr txBox="1">
            <a:spLocks noGrp="1"/>
          </p:cNvSpPr>
          <p:nvPr>
            <p:ph type="body" idx="1"/>
          </p:nvPr>
        </p:nvSpPr>
        <p:spPr>
          <a:xfrm>
            <a:off x="7831834" y="2103120"/>
            <a:ext cx="3847309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Subordinate of Root CA</a:t>
            </a:r>
            <a:endParaRPr lang="en-US" sz="24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736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Subject Alternative Name, Wildcard Certificates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Subject Alternative Name (SAN)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200" dirty="0">
                <a:solidFill>
                  <a:srgbClr val="32468A"/>
                </a:solidFill>
              </a:rPr>
              <a:t>Identifiers: URI, IP address, FQDN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200" dirty="0">
                <a:solidFill>
                  <a:srgbClr val="32468A"/>
                </a:solidFill>
              </a:rPr>
              <a:t>Verified by browser to match site </a:t>
            </a:r>
            <a:br>
              <a:rPr lang="en-US" sz="2200" dirty="0">
                <a:solidFill>
                  <a:srgbClr val="32468A"/>
                </a:solidFill>
              </a:rPr>
            </a:br>
            <a:r>
              <a:rPr lang="en-US" sz="2200" dirty="0">
                <a:solidFill>
                  <a:srgbClr val="32468A"/>
                </a:solidFill>
              </a:rPr>
              <a:t>presently visiting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2800"/>
              <a:buNone/>
            </a:pPr>
            <a:endParaRPr lang="en-US" sz="22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Wildcard certificate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2800"/>
            </a:pPr>
            <a:r>
              <a:rPr lang="en-US" sz="2200" dirty="0">
                <a:solidFill>
                  <a:srgbClr val="32468A"/>
                </a:solidFill>
              </a:rPr>
              <a:t>List of subdomains</a:t>
            </a:r>
            <a:br>
              <a:rPr lang="en-US" sz="2200" dirty="0">
                <a:solidFill>
                  <a:srgbClr val="32468A"/>
                </a:solidFill>
              </a:rPr>
            </a:br>
            <a:r>
              <a:rPr lang="en-US" sz="2200" dirty="0">
                <a:solidFill>
                  <a:srgbClr val="32468A"/>
                </a:solidFill>
              </a:rPr>
              <a:t>covered by certificate</a:t>
            </a:r>
          </a:p>
          <a:p>
            <a:pPr lvl="1" indent="-457200">
              <a:spcBef>
                <a:spcPts val="0"/>
              </a:spcBef>
              <a:buSzPts val="2800"/>
            </a:pPr>
            <a:r>
              <a:rPr lang="en-US" sz="2200" dirty="0">
                <a:solidFill>
                  <a:srgbClr val="32468A"/>
                </a:solidFill>
              </a:rPr>
              <a:t>Indicated by asterisk in </a:t>
            </a:r>
            <a:br>
              <a:rPr lang="en-US" sz="2200" dirty="0">
                <a:solidFill>
                  <a:srgbClr val="32468A"/>
                </a:solidFill>
              </a:rPr>
            </a:br>
            <a:r>
              <a:rPr lang="en-US" sz="2200" dirty="0">
                <a:solidFill>
                  <a:srgbClr val="32468A"/>
                </a:solidFill>
              </a:rPr>
              <a:t>FQDN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9960"/>
            <a:ext cx="4629796" cy="27340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619" y="4747319"/>
            <a:ext cx="4362450" cy="13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77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0" name="Google Shape;230;p5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9753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5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Certificate Revocation</a:t>
            </a:r>
            <a:endParaRPr dirty="0"/>
          </a:p>
        </p:txBody>
      </p:sp>
      <p:pic>
        <p:nvPicPr>
          <p:cNvPr id="235" name="Google Shape;235;p5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4;p5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11582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Suspension</a:t>
            </a:r>
            <a:r>
              <a:rPr lang="en-US" sz="2600" dirty="0">
                <a:solidFill>
                  <a:srgbClr val="32468A"/>
                </a:solidFill>
              </a:rPr>
              <a:t>- temporary hold for period of time, can be reinstated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600" b="1" dirty="0">
                <a:solidFill>
                  <a:srgbClr val="32468A"/>
                </a:solidFill>
              </a:rPr>
              <a:t>Revocation</a:t>
            </a:r>
            <a:r>
              <a:rPr lang="en-US" sz="2600" dirty="0">
                <a:solidFill>
                  <a:srgbClr val="32468A"/>
                </a:solidFill>
              </a:rPr>
              <a:t>- certificate no longer valid, cannot be reinstated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Reason codes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Certificate Revocation List (CRL)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Lists of suspended, revoked certificates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Browser downloads CRL and checks site being visited against list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600" dirty="0">
                <a:solidFill>
                  <a:srgbClr val="32468A"/>
                </a:solidFill>
              </a:rPr>
              <a:t>Online Certificate Status Protocol (OCSP)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Browser queries single certificate for each site visit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2400" dirty="0">
                <a:solidFill>
                  <a:srgbClr val="32468A"/>
                </a:solidFill>
              </a:rPr>
              <a:t>CRL not downloaded, fast, real-time status updates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endParaRPr lang="en-US" sz="26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600"/>
              </a:spcAft>
              <a:buSzPts val="2800"/>
            </a:pPr>
            <a:endParaRPr lang="en-US" sz="24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846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32468A"/>
              </a:buClr>
              <a:buSzPct val="100000"/>
            </a:pPr>
            <a:r>
              <a:rPr lang="en-US" sz="3200" dirty="0">
                <a:solidFill>
                  <a:srgbClr val="32468A"/>
                </a:solidFill>
              </a:rPr>
              <a:t>Chapter 2: Cryptographic Solutions and Threats</a:t>
            </a:r>
            <a:endParaRPr sz="3200" dirty="0"/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dirty="0">
                <a:solidFill>
                  <a:srgbClr val="32468A"/>
                </a:solidFill>
              </a:rPr>
              <a:t>► </a:t>
            </a:r>
            <a:r>
              <a:rPr lang="en-US" sz="3600" b="1" dirty="0">
                <a:solidFill>
                  <a:srgbClr val="32468A"/>
                </a:solidFill>
              </a:rPr>
              <a:t>Threats</a:t>
            </a:r>
            <a:endParaRPr sz="3600" b="1" dirty="0"/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628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Threats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r>
              <a:rPr lang="en-US" sz="3200" dirty="0">
                <a:solidFill>
                  <a:srgbClr val="32468A"/>
                </a:solidFill>
              </a:rPr>
              <a:t>Any incident with the potential to negatively impact business operations or assets is considered a threat.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Business operations- functions that allow organization to provide products and/or services to customer base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8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Business assets- items of value to the organization such as data, network, hardware, software, building structures, cloud services, people, trademark, reputation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8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endParaRPr lang="en-US" sz="32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125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Threat Actors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r>
              <a:rPr lang="en-US" sz="3200" dirty="0">
                <a:solidFill>
                  <a:srgbClr val="32468A"/>
                </a:solidFill>
              </a:rPr>
              <a:t>Group, individual, or instigator of a threat.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r>
              <a:rPr lang="en-US" sz="2600" dirty="0">
                <a:solidFill>
                  <a:srgbClr val="32468A"/>
                </a:solidFill>
              </a:rPr>
              <a:t>Attributes of threat actors: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Internal/external- level of access threat actor has before attack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Resources/funding- monetary capability of threat actor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Level of sophistication/capability- ability of threat actor to carry out highly advanced attacks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32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4176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Nation-State Threat Actors and APT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009309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3200" dirty="0">
                <a:solidFill>
                  <a:srgbClr val="32468A"/>
                </a:solidFill>
              </a:rPr>
              <a:t>Funded and protected by national government or military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3200" dirty="0">
                <a:solidFill>
                  <a:srgbClr val="32468A"/>
                </a:solidFill>
              </a:rPr>
              <a:t>High level of sophistication and ability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3200" dirty="0">
                <a:solidFill>
                  <a:srgbClr val="32468A"/>
                </a:solidFill>
              </a:rPr>
              <a:t>Highly targeted attacks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3200" dirty="0">
                <a:solidFill>
                  <a:srgbClr val="32468A"/>
                </a:solidFill>
              </a:rPr>
              <a:t>Advanced Persistent Threat (APT)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3200" dirty="0">
                <a:solidFill>
                  <a:srgbClr val="32468A"/>
                </a:solidFill>
              </a:rPr>
              <a:t>Data theft, disruption of services, deception and disinformation, espionage, war efforts</a:t>
            </a: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805" y="1865376"/>
            <a:ext cx="5414470" cy="272986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6315074" y="4814316"/>
            <a:ext cx="5229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Screenshot © 2024 The MITRE Corporation. This work is reproduced and distributed with the permission of The MITRE Corporation. (https://attack.mitre.org/groups/)</a:t>
            </a:r>
          </a:p>
        </p:txBody>
      </p:sp>
    </p:spTree>
    <p:extLst>
      <p:ext uri="{BB962C8B-B14F-4D97-AF65-F5344CB8AC3E}">
        <p14:creationId xmlns:p14="http://schemas.microsoft.com/office/powerpoint/2010/main" val="1203643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Organized Crime and Hacktivist Actors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009309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Organized crime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Can be highly funded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Operate across geographical jurisdictions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Financial profit, money-laundering, espionage, IP theft, fraud, extortion, blackmail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56;p7"/>
          <p:cNvSpPr txBox="1">
            <a:spLocks/>
          </p:cNvSpPr>
          <p:nvPr/>
        </p:nvSpPr>
        <p:spPr>
          <a:xfrm>
            <a:off x="6213269" y="2099083"/>
            <a:ext cx="5009309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Hacktivist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Hacker groups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Working together for common cause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Shift public opinion, spread civil unrest and disobedience, obtain and leak confidential information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Font typeface="Garamond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817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Insider Threat Actors and Shadow IT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46482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Insider threat actor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Has or previously had authorized access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Employees, suppliers, contractors, customers, business partners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Revenge, financial gain, damage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56;p7"/>
          <p:cNvSpPr txBox="1">
            <a:spLocks/>
          </p:cNvSpPr>
          <p:nvPr/>
        </p:nvSpPr>
        <p:spPr>
          <a:xfrm>
            <a:off x="6115891" y="2099083"/>
            <a:ext cx="5009309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Shadow IT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Insider attack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Use of unauthorized IT resources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Expansion of attack surface, privilege escalation, unauthorized access, data loss, service disruption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Font typeface="Garamond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Font typeface="Garamond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38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Unskilled Attackers </a:t>
            </a:r>
            <a:endParaRPr dirty="0"/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56;p7"/>
          <p:cNvSpPr txBox="1">
            <a:spLocks noGrp="1"/>
          </p:cNvSpPr>
          <p:nvPr>
            <p:ph type="body" idx="1"/>
          </p:nvPr>
        </p:nvSpPr>
        <p:spPr>
          <a:xfrm>
            <a:off x="3931010" y="2103120"/>
            <a:ext cx="7194189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Unskilled attackers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Attacker with little cyber skill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Use of prebuilt tools without capability to create own tools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Attacking for fun, impress others, learn skills on own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77" y="2992438"/>
            <a:ext cx="3049232" cy="30492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31406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Motivators of Threat Actors (1)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Motivators describe intent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Intentional and unintentional (accidental)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Maliciously motivated or opportunistic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Damaging or harmless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0920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Motivators of Threat Actors (2)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800" dirty="0">
                <a:solidFill>
                  <a:srgbClr val="32468A"/>
                </a:solidFill>
              </a:rPr>
              <a:t>Data exfiltration- unauthorized transfer of information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Insider or external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Email message and attachments, external storage devices, cloud storage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Revenge, extortion or ransom, data for sale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2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800" dirty="0">
                <a:solidFill>
                  <a:srgbClr val="32468A"/>
                </a:solidFill>
              </a:rPr>
              <a:t>Espionage- exfiltration of sensitive, secret, confidential information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Nation-state actors 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Political, economic, or military purposes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081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Motivators of Threat Actors (3)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Service disruption- prevent legitimate use of organization’s technology resources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Insider or external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Chaos, competition, decoy, disagreement of target organization’s beliefs or views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Blackmail- force payment in exchange for not revealing stolen information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Financial gain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2801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Threat Vectors and Attack Surface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Threat vectors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Methods and pathways used by attacker to exploit, gain access, compromise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Attack surface- collection of threat vectors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In an organization, within an app, on a system or network, or a human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Addition of vectors increases attack surface, while removing vectors decreases attack surface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30716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Message-based Threat Vectors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Email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Short Message Service (SMS)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Instant Messaging (IM)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Voice call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6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369" y="2852276"/>
            <a:ext cx="3546991" cy="2466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91042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Image-based and File-based Threat Vectors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45225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800" dirty="0">
                <a:solidFill>
                  <a:srgbClr val="32468A"/>
                </a:solidFill>
              </a:rPr>
              <a:t>Image-based threat vector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Deceiving target into clicking on or opening an image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Malicious image attachments, embedded images in email body directing browser to fake website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Concealment of information in an image</a:t>
            </a:r>
          </a:p>
          <a:p>
            <a:pPr lvl="2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Data exfiltration, bypass security controls, deliver malicious code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56;p7"/>
          <p:cNvSpPr txBox="1">
            <a:spLocks/>
          </p:cNvSpPr>
          <p:nvPr/>
        </p:nvSpPr>
        <p:spPr>
          <a:xfrm>
            <a:off x="6443472" y="2099083"/>
            <a:ext cx="4681728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800" dirty="0">
                <a:solidFill>
                  <a:srgbClr val="32468A"/>
                </a:solidFill>
              </a:rPr>
              <a:t>File-based threat vector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Malicious code delivered via download, email, removable device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User enticed into opening file which executes payload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Common file types/formats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Images, videos, audio, documents/PDFs, scripts, installers/executables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Font typeface="Garamond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Font typeface="Garamond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726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Vulnerable Software Threat Vectors (1)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5343526" cy="423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Software that contains security flaws, weaknesses, vulnerabilities in code or product design 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Operating systems, applications, device drivers, firmware, embedded systems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Causes: Application crashes, execution of malicious code, unauthorized access to software or system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400" dirty="0">
                <a:solidFill>
                  <a:srgbClr val="32468A"/>
                </a:solidFill>
              </a:rPr>
              <a:t>Patch management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243" y="2103120"/>
            <a:ext cx="4223799" cy="32206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0033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Vulnerable Software Threat Vectors (2)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Client-based vs agentless scanning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Search system and software for known vulnerabilities and reports findings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Client-based</a:t>
            </a:r>
          </a:p>
          <a:p>
            <a:pPr lvl="2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Scanning software installed on each host, results sent back to collection server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Agentless</a:t>
            </a:r>
          </a:p>
          <a:p>
            <a:pPr lvl="2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Nothing installed on host, server reaches out to host and scans across network</a:t>
            </a:r>
          </a:p>
          <a:p>
            <a:pPr lvl="2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Results collected at server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8771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sz="3600" dirty="0">
                <a:solidFill>
                  <a:srgbClr val="32468A"/>
                </a:solidFill>
              </a:rPr>
              <a:t>Unsupported System and Application Threat Vectors</a:t>
            </a:r>
            <a:endParaRPr sz="3600"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45225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Vendor no longer providing security updates or patches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End-of-life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Remove affected system or app and replace with updated product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Where replacement is not feasible, isolate or sandbox 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6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995" y="2233073"/>
            <a:ext cx="5533322" cy="298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9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Unsecure Network Threat Vectors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Unsecure network- fails to enforce confidentiality, integrity, and availability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Wireless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Wired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Bluetooth 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Open service ports (UDP and TCP)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Default credentials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6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89689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Supply Chain Attack Surface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408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Complex process of design, development, manufacturing, warehousing, and wholesaling or retailing to deliver products and/or services to customers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Broad attack surface, possible attacks at any step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Suppliers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Vendors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Managed service providers (MSPs)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Risk management supporting trusted and reputable suppliers, vendors, MSPs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3200"/>
            </a:pPr>
            <a:endParaRPr lang="en-US" sz="26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6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8818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386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"/>
          <p:cNvSpPr/>
          <p:nvPr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"/>
          <p:cNvSpPr/>
          <p:nvPr/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lt1"/>
          </a:solidFill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1"/>
          <p:cNvSpPr txBox="1">
            <a:spLocks noGrp="1"/>
          </p:cNvSpPr>
          <p:nvPr>
            <p:ph type="ctrTitle"/>
          </p:nvPr>
        </p:nvSpPr>
        <p:spPr>
          <a:xfrm>
            <a:off x="1241170" y="3716860"/>
            <a:ext cx="9732773" cy="14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32468A"/>
              </a:buClr>
              <a:buSzPct val="100000"/>
            </a:pPr>
            <a:r>
              <a:rPr lang="en-US" sz="3200" dirty="0">
                <a:solidFill>
                  <a:srgbClr val="32468A"/>
                </a:solidFill>
              </a:rPr>
              <a:t>Chapter 2: Cryptographic Solutions and Threats</a:t>
            </a:r>
            <a:endParaRPr sz="3200" dirty="0"/>
          </a:p>
        </p:txBody>
      </p:sp>
      <p:sp>
        <p:nvSpPr>
          <p:cNvPr id="186" name="Google Shape;186;p1"/>
          <p:cNvSpPr txBox="1">
            <a:spLocks noGrp="1"/>
          </p:cNvSpPr>
          <p:nvPr>
            <p:ph type="subTitle" idx="1"/>
          </p:nvPr>
        </p:nvSpPr>
        <p:spPr>
          <a:xfrm>
            <a:off x="1371600" y="5181972"/>
            <a:ext cx="9517450" cy="6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sz="3600" dirty="0">
                <a:solidFill>
                  <a:srgbClr val="32468A"/>
                </a:solidFill>
              </a:rPr>
              <a:t>► </a:t>
            </a:r>
            <a:r>
              <a:rPr lang="en-US" sz="3600" b="1" dirty="0">
                <a:solidFill>
                  <a:srgbClr val="32468A"/>
                </a:solidFill>
              </a:rPr>
              <a:t>Social Engineering</a:t>
            </a:r>
            <a:endParaRPr sz="3600" b="1" dirty="0"/>
          </a:p>
        </p:txBody>
      </p:sp>
      <p:sp>
        <p:nvSpPr>
          <p:cNvPr id="187" name="Google Shape;187;p1"/>
          <p:cNvSpPr/>
          <p:nvPr/>
        </p:nvSpPr>
        <p:spPr>
          <a:xfrm>
            <a:off x="5135880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88" name="Google Shape;188;p1"/>
          <p:cNvCxnSpPr/>
          <p:nvPr/>
        </p:nvCxnSpPr>
        <p:spPr>
          <a:xfrm>
            <a:off x="525018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/>
          <p:nvPr/>
        </p:nvCxnSpPr>
        <p:spPr>
          <a:xfrm>
            <a:off x="6941820" y="446823"/>
            <a:ext cx="0" cy="64008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/>
          <p:nvPr/>
        </p:nvCxnSpPr>
        <p:spPr>
          <a:xfrm>
            <a:off x="5250180" y="1092118"/>
            <a:ext cx="1691640" cy="0"/>
          </a:xfrm>
          <a:prstGeom prst="straightConnector1">
            <a:avLst/>
          </a:prstGeom>
          <a:solidFill>
            <a:srgbClr val="262626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1" name="Google Shape;191;p1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3116580" y="1395172"/>
            <a:ext cx="5969424" cy="214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31722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Human Vectors/Social Engineering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800" dirty="0">
                <a:solidFill>
                  <a:srgbClr val="32468A"/>
                </a:solidFill>
              </a:rPr>
              <a:t>Psychological manipulation, influence, deception that plays on human emotions 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800" dirty="0">
                <a:solidFill>
                  <a:srgbClr val="32468A"/>
                </a:solidFill>
              </a:rPr>
              <a:t>Gain information through reconnaissance to facilitate unauthorized access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3000" dirty="0">
                <a:solidFill>
                  <a:srgbClr val="32468A"/>
                </a:solidFill>
              </a:rPr>
              <a:t>Convince user to perform an action for illegitimate reasons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8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8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8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8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9120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Phishing, Vishing, and SMiShing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Phishing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Manipulation of subject into acting on a spoofed or malicious message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Victim directed to spoofed site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Scammer captures user’s credentials, installs malware, runs malicious code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45" y="4228239"/>
            <a:ext cx="8649907" cy="109552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31369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Phishing, Vishing, and SMiShing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5973202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Vishing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Phishing using voice communication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Intimidation or urgency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SMiShing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Phishing using short messaging service (SMS) text messaging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endParaRPr lang="en-US" sz="2400" dirty="0">
              <a:solidFill>
                <a:srgbClr val="32468A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3200"/>
              <a:buNone/>
            </a:pPr>
            <a:endParaRPr lang="en-US" sz="2400" dirty="0">
              <a:solidFill>
                <a:srgbClr val="32468A"/>
              </a:solidFill>
            </a:endParaRP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623" y="2741877"/>
            <a:ext cx="3038899" cy="25721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/>
          <p:cNvSpPr/>
          <p:nvPr/>
        </p:nvSpPr>
        <p:spPr>
          <a:xfrm>
            <a:off x="8467725" y="4029074"/>
            <a:ext cx="1905000" cy="117157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solidFill>
                  <a:schemeClr val="tx1"/>
                </a:solidFill>
              </a:rPr>
              <a:t>Your account has been disabled. To reactivate, update immediately, access http://signin.accountactivate.com.ru/p0o1kklwbd76a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87109" y="3808015"/>
            <a:ext cx="1685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Thursday, Oct 22   4:11 AM</a:t>
            </a:r>
          </a:p>
        </p:txBody>
      </p:sp>
    </p:spTree>
    <p:extLst>
      <p:ext uri="{BB962C8B-B14F-4D97-AF65-F5344CB8AC3E}">
        <p14:creationId xmlns:p14="http://schemas.microsoft.com/office/powerpoint/2010/main" val="22558629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Misinformation and Disinformation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Both are false or misleading information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Difference lies in the intent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Misinformation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Distributing information that is believed, at the time, to be accurate.</a:t>
            </a:r>
          </a:p>
          <a:p>
            <a:pPr lvl="2"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In reality, it turns out to be false</a:t>
            </a:r>
          </a:p>
          <a:p>
            <a:pPr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Disinformation</a:t>
            </a:r>
          </a:p>
          <a:p>
            <a:pPr lvl="1" indent="-457200">
              <a:spcBef>
                <a:spcPts val="0"/>
              </a:spcBef>
              <a:spcAft>
                <a:spcPts val="6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Intentionally distributing inaccurate information as if it were true</a:t>
            </a: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84543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Impersonation and Pretexting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Impersonation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Intentionally pretending to be someone you are not to get someone to act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Centers on inability of victim to verify attackers identity 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Intimidation, authority, imitation of coworker, other trusted individual or organization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Pretexting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Creating a credible and realistic sounding fictional story based on information about victim</a:t>
            </a: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08352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sz="3600" dirty="0">
                <a:solidFill>
                  <a:srgbClr val="32468A"/>
                </a:solidFill>
              </a:rPr>
              <a:t>Brand Impersonation and Business Email Compromise</a:t>
            </a:r>
            <a:endParaRPr sz="3600"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Brand impersonation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Fraud used to fake organization’s merchandise, logo, website, business or social media profiles for financial gain, reputational damage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Business email compromise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Attacker poses as trusted vendor, supplier, business partner, customer, employee, colleague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Attacker uses spoofed or compromised email account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Deception, financial gain, data theft, other impersonation type attacks</a:t>
            </a: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9389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52" name="Google Shape;252;p7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Watering Hole Attack and Typosquatting</a:t>
            </a:r>
            <a:endParaRPr dirty="0"/>
          </a:p>
        </p:txBody>
      </p:sp>
      <p:sp>
        <p:nvSpPr>
          <p:cNvPr id="256" name="Google Shape;256;p7"/>
          <p:cNvSpPr txBox="1">
            <a:spLocks noGrp="1"/>
          </p:cNvSpPr>
          <p:nvPr>
            <p:ph type="body" idx="1"/>
          </p:nvPr>
        </p:nvSpPr>
        <p:spPr>
          <a:xfrm>
            <a:off x="1066799" y="2103120"/>
            <a:ext cx="10058401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Watering hole attack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Organization attacked through compromised third-party websites their users visit as opposed to a direct targeted attack</a:t>
            </a:r>
          </a:p>
          <a:p>
            <a:pPr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600" dirty="0">
                <a:solidFill>
                  <a:srgbClr val="32468A"/>
                </a:solidFill>
              </a:rPr>
              <a:t>Typosquatting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Capitalizes on misspelled domain names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Attacker registers close spelling of legitimate website domain name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Manually typed in browser or links in phishing messages</a:t>
            </a:r>
          </a:p>
          <a:p>
            <a:pPr lvl="1" indent="-457200">
              <a:spcBef>
                <a:spcPts val="0"/>
              </a:spcBef>
              <a:spcAft>
                <a:spcPts val="1200"/>
              </a:spcAft>
              <a:buSzPts val="3200"/>
            </a:pPr>
            <a:r>
              <a:rPr lang="en-US" sz="2200" dirty="0">
                <a:solidFill>
                  <a:srgbClr val="32468A"/>
                </a:solidFill>
              </a:rPr>
              <a:t>Malware, phishing, financial gain, counterfeiting, affiliate links, spoofing</a:t>
            </a:r>
          </a:p>
        </p:txBody>
      </p:sp>
      <p:pic>
        <p:nvPicPr>
          <p:cNvPr id="257" name="Google Shape;257;p7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4724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9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723" name="Google Shape;723;p49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41"/>
          <a:stretch/>
        </p:blipFill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9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1">
              <a:alpha val="9372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5" name="Google Shape;725;p49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6" name="Google Shape;726;p49"/>
          <p:cNvSpPr txBox="1"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68A"/>
              </a:buClr>
              <a:buSzPts val="4800"/>
              <a:buFont typeface="Garamond"/>
              <a:buNone/>
            </a:pPr>
            <a:r>
              <a:rPr lang="en-US" dirty="0">
                <a:solidFill>
                  <a:srgbClr val="32468A"/>
                </a:solidFill>
              </a:rPr>
              <a:t>Summary</a:t>
            </a:r>
            <a:endParaRPr dirty="0"/>
          </a:p>
        </p:txBody>
      </p:sp>
      <p:sp>
        <p:nvSpPr>
          <p:cNvPr id="727" name="Google Shape;727;p49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600" dirty="0">
                <a:solidFill>
                  <a:srgbClr val="32468A"/>
                </a:solidFill>
              </a:rPr>
              <a:t>In this chapter, you will have learned:</a:t>
            </a:r>
            <a:endParaRPr sz="2600" dirty="0"/>
          </a:p>
          <a:p>
            <a:pPr marL="514350" lvl="0" indent="-296863">
              <a:buSzPts val="2400"/>
            </a:pPr>
            <a:r>
              <a:rPr lang="en-US" sz="2600" dirty="0">
                <a:solidFill>
                  <a:srgbClr val="32468A"/>
                </a:solidFill>
              </a:rPr>
              <a:t>Cryptography Concepts</a:t>
            </a:r>
          </a:p>
          <a:p>
            <a:pPr marL="514350" lvl="0" indent="-296863">
              <a:buSzPts val="2400"/>
            </a:pPr>
            <a:r>
              <a:rPr lang="en-US" sz="2600" dirty="0">
                <a:solidFill>
                  <a:srgbClr val="32468A"/>
                </a:solidFill>
              </a:rPr>
              <a:t>Implementations of Cryptography</a:t>
            </a:r>
          </a:p>
          <a:p>
            <a:pPr marL="514350" lvl="0" indent="-296863">
              <a:buSzPts val="2400"/>
            </a:pPr>
            <a:r>
              <a:rPr lang="en-US" sz="2600" dirty="0">
                <a:solidFill>
                  <a:srgbClr val="32468A"/>
                </a:solidFill>
              </a:rPr>
              <a:t>Cryptographic Tools</a:t>
            </a:r>
          </a:p>
          <a:p>
            <a:pPr marL="514350" lvl="0" indent="-296863">
              <a:buSzPts val="2400"/>
            </a:pPr>
            <a:r>
              <a:rPr lang="en-US" sz="2600" dirty="0">
                <a:solidFill>
                  <a:srgbClr val="32468A"/>
                </a:solidFill>
              </a:rPr>
              <a:t>Public Key Infrastructure (PKI)</a:t>
            </a:r>
          </a:p>
          <a:p>
            <a:pPr marL="514350" lvl="0" indent="-296863">
              <a:buSzPts val="2400"/>
            </a:pPr>
            <a:r>
              <a:rPr lang="en-US" sz="2600" dirty="0">
                <a:solidFill>
                  <a:srgbClr val="32468A"/>
                </a:solidFill>
              </a:rPr>
              <a:t>Threats</a:t>
            </a:r>
          </a:p>
          <a:p>
            <a:pPr marL="514350" lvl="0" indent="-296863">
              <a:buSzPts val="2400"/>
            </a:pPr>
            <a:r>
              <a:rPr lang="en-US" sz="2600" dirty="0">
                <a:solidFill>
                  <a:srgbClr val="32468A"/>
                </a:solidFill>
              </a:rPr>
              <a:t>Social Engineering</a:t>
            </a:r>
          </a:p>
        </p:txBody>
      </p:sp>
      <p:pic>
        <p:nvPicPr>
          <p:cNvPr id="728" name="Google Shape;728;p49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3" b="720"/>
          <a:stretch/>
        </p:blipFill>
        <p:spPr>
          <a:xfrm>
            <a:off x="9527452" y="5561511"/>
            <a:ext cx="2151691" cy="774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1598163"/>
      </p:ext>
    </p:extLst>
  </p:cSld>
  <p:clrMapOvr>
    <a:masterClrMapping/>
  </p:clrMapOvr>
</p:sld>
</file>

<file path=ppt/theme/theme1.xml><?xml version="1.0" encoding="utf-8"?>
<a:theme xmlns:a="http://schemas.openxmlformats.org/drawingml/2006/main" name="SavonVTI">
  <a:themeElements>
    <a:clrScheme name="Custom 8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</TotalTime>
  <Words>2791</Words>
  <Application>Microsoft Office PowerPoint</Application>
  <PresentationFormat>Widescreen</PresentationFormat>
  <Paragraphs>438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Garamond</vt:lpstr>
      <vt:lpstr>Arial</vt:lpstr>
      <vt:lpstr>Calibri</vt:lpstr>
      <vt:lpstr>SavonVTI</vt:lpstr>
      <vt:lpstr>Office Theme</vt:lpstr>
      <vt:lpstr>CompTIA Security+ (Exam: SY0-701)</vt:lpstr>
      <vt:lpstr>Objectives</vt:lpstr>
      <vt:lpstr>CompTIA Exam Objectives</vt:lpstr>
      <vt:lpstr>Chapter 2: Cryptographic Solutions and Threats</vt:lpstr>
      <vt:lpstr>Cryptography</vt:lpstr>
      <vt:lpstr>Cryptography Terms</vt:lpstr>
      <vt:lpstr>Symmetric Encryption</vt:lpstr>
      <vt:lpstr>Asymmetric Encryption</vt:lpstr>
      <vt:lpstr>Key Length</vt:lpstr>
      <vt:lpstr>Hashing</vt:lpstr>
      <vt:lpstr>Digital Signatures (1)</vt:lpstr>
      <vt:lpstr>Digital Signatures (2)</vt:lpstr>
      <vt:lpstr>Chapter 2: Cryptographic Solutions and Threats</vt:lpstr>
      <vt:lpstr>Encryption</vt:lpstr>
      <vt:lpstr>Encryption Levels – Data at Rest</vt:lpstr>
      <vt:lpstr>Encryption Levels – Database (1)</vt:lpstr>
      <vt:lpstr>Encryption Levels – Database (2)</vt:lpstr>
      <vt:lpstr>Transport/Communication Encryption</vt:lpstr>
      <vt:lpstr>Key Exchange (1)</vt:lpstr>
      <vt:lpstr>Key Exchange (2)</vt:lpstr>
      <vt:lpstr>Key Exchange (3)</vt:lpstr>
      <vt:lpstr>Perfect Forward Secrecy (PFS)</vt:lpstr>
      <vt:lpstr>Key Escrow</vt:lpstr>
      <vt:lpstr>Obfuscation (1)</vt:lpstr>
      <vt:lpstr>Obfuscation (2)</vt:lpstr>
      <vt:lpstr>Salting and Key Stretching</vt:lpstr>
      <vt:lpstr>Blockchain</vt:lpstr>
      <vt:lpstr>Chapter 2: Cryptographic Solutions and Threats</vt:lpstr>
      <vt:lpstr>Key Management System</vt:lpstr>
      <vt:lpstr>Hardware Cryptoprocessors</vt:lpstr>
      <vt:lpstr>Chapter 2: Cryptographic Solutions and Threats</vt:lpstr>
      <vt:lpstr>Public Key Infrastructure (PKI)</vt:lpstr>
      <vt:lpstr>Digital Certificates</vt:lpstr>
      <vt:lpstr>Certificate Authority (CA)</vt:lpstr>
      <vt:lpstr>Root of Trust</vt:lpstr>
      <vt:lpstr>Certificate Hierarchy</vt:lpstr>
      <vt:lpstr>Certificate Signing Request (CSR)</vt:lpstr>
      <vt:lpstr>Registration Authority (RA)</vt:lpstr>
      <vt:lpstr>Subject Alternative Name, Wildcard Certificates</vt:lpstr>
      <vt:lpstr>Certificate Revocation</vt:lpstr>
      <vt:lpstr>Chapter 2: Cryptographic Solutions and Threats</vt:lpstr>
      <vt:lpstr>Threats</vt:lpstr>
      <vt:lpstr>Threat Actors</vt:lpstr>
      <vt:lpstr>Nation-State Threat Actors and APT</vt:lpstr>
      <vt:lpstr>Organized Crime and Hacktivist Actors</vt:lpstr>
      <vt:lpstr>Insider Threat Actors and Shadow IT</vt:lpstr>
      <vt:lpstr>Unskilled Attackers </vt:lpstr>
      <vt:lpstr>Motivators of Threat Actors (1)</vt:lpstr>
      <vt:lpstr>Motivators of Threat Actors (2)</vt:lpstr>
      <vt:lpstr>Motivators of Threat Actors (3)</vt:lpstr>
      <vt:lpstr>Threat Vectors and Attack Surface</vt:lpstr>
      <vt:lpstr>Message-based Threat Vectors</vt:lpstr>
      <vt:lpstr>Image-based and File-based Threat Vectors</vt:lpstr>
      <vt:lpstr>Vulnerable Software Threat Vectors (1)</vt:lpstr>
      <vt:lpstr>Vulnerable Software Threat Vectors (2)</vt:lpstr>
      <vt:lpstr>Unsupported System and Application Threat Vectors</vt:lpstr>
      <vt:lpstr>Unsecure Network Threat Vectors</vt:lpstr>
      <vt:lpstr>Supply Chain Attack Surface</vt:lpstr>
      <vt:lpstr>Chapter 2: Cryptographic Solutions and Threats</vt:lpstr>
      <vt:lpstr>Human Vectors/Social Engineering</vt:lpstr>
      <vt:lpstr>Phishing, Vishing, and SMiShing</vt:lpstr>
      <vt:lpstr>Phishing, Vishing, and SMiShing</vt:lpstr>
      <vt:lpstr>Misinformation and Disinformation</vt:lpstr>
      <vt:lpstr>Impersonation and Pretexting</vt:lpstr>
      <vt:lpstr>Brand Impersonation and Business Email Compromise</vt:lpstr>
      <vt:lpstr>Watering Hole Attack and Typosquatting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CompTIA Security+ (Exam: SY0-701)</dc:title>
  <dc:creator>Walter Jaqua</dc:creator>
  <cp:lastModifiedBy>Jacob Newman</cp:lastModifiedBy>
  <cp:revision>221</cp:revision>
  <dcterms:created xsi:type="dcterms:W3CDTF">2021-07-02T19:18:02Z</dcterms:created>
  <dcterms:modified xsi:type="dcterms:W3CDTF">2024-10-08T14:43:45Z</dcterms:modified>
</cp:coreProperties>
</file>